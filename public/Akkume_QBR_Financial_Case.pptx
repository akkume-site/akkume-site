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6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MSR Strip Multiple</c:v>
                </c:pt>
              </c:strCache>
            </c:strRef>
          </c:tx>
          <c:spPr>
            <a:solidFill>
              <a:srgbClr val="A0AEC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47D-4618-B1A3-F39D083FEC23}"/>
              </c:ext>
            </c:extLst>
          </c:dPt>
          <c:dPt>
            <c:idx val="1"/>
            <c:invertIfNegative val="0"/>
            <c:bubble3D val="0"/>
            <c:spPr>
              <a:solidFill>
                <a:srgbClr val="E877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47D-4618-B1A3-F39D083FEC2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347D-4618-B1A3-F39D083FEC23}"/>
              </c:ext>
            </c:extLst>
          </c:dPt>
          <c:dPt>
            <c:idx val="3"/>
            <c:invertIfNegative val="0"/>
            <c:bubble3D val="0"/>
            <c:spPr>
              <a:solidFill>
                <a:srgbClr val="E877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47D-4618-B1A3-F39D083FEC2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F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Conv. 90% LTV
(No BTC)</c:v>
                </c:pt>
                <c:pt idx="1">
                  <c:v>Q-BR™
(25% BTC
Buffer)</c:v>
                </c:pt>
                <c:pt idx="2">
                  <c:v>Jumbo
(60% LTV)</c:v>
                </c:pt>
                <c:pt idx="3">
                  <c:v>Q-BR™
(40% BTC
Buffer)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3.5</c:v>
                </c:pt>
                <c:pt idx="1">
                  <c:v>4.0999999999999996</c:v>
                </c:pt>
                <c:pt idx="2">
                  <c:v>4.5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47D-4618-B1A3-F39D083FEC2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.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4A5568"/>
                </a:solidFill>
                <a:latin typeface="Arial"/>
              </a:rPr>
              <a:t>Est. Credit Loss Reduction by BCR Level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Est. Credit Loss Reduction (%)</c:v>
                </c:pt>
              </c:strCache>
            </c:strRef>
          </c:tx>
          <c:spPr>
            <a:solidFill>
              <a:srgbClr val="E8772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383-44D3-8117-6D41E617BDE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383-44D3-8117-6D41E617BDE8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8383-44D3-8117-6D41E617BDE8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8383-44D3-8117-6D41E617BDE8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8383-44D3-8117-6D41E617BDE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A2F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BCR 10%</c:v>
                </c:pt>
                <c:pt idx="1">
                  <c:v>BCR 25%</c:v>
                </c:pt>
                <c:pt idx="2">
                  <c:v>BCR 50%</c:v>
                </c:pt>
                <c:pt idx="3">
                  <c:v>BCR 75%</c:v>
                </c:pt>
                <c:pt idx="4">
                  <c:v>BCR 100%+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35</c:v>
                </c:pt>
                <c:pt idx="2">
                  <c:v>57</c:v>
                </c:pt>
                <c:pt idx="3">
                  <c:v>71</c:v>
                </c:pt>
                <c:pt idx="4">
                  <c:v>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383-44D3-8117-6D41E617BDE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1347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162848"/>
          </a:solidFill>
          <a:ln w="12700">
            <a:solidFill>
              <a:srgbClr val="1628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pic>
        <p:nvPicPr>
          <p:cNvPr id="4" name="Image 0" descr="/home/claude/akkum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325880" cy="12465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50292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Q-BR™</a:t>
            </a:r>
            <a:endParaRPr lang="en-US" sz="6200" dirty="0"/>
          </a:p>
        </p:txBody>
      </p:sp>
      <p:sp>
        <p:nvSpPr>
          <p:cNvPr id="6" name="Text 3"/>
          <p:cNvSpPr/>
          <p:nvPr/>
        </p:nvSpPr>
        <p:spPr>
          <a:xfrm>
            <a:off x="411480" y="14630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Financial Case for GSEs &amp; Lenders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11480" y="20299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0A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Reserve Layer for U.S. Mortgage Finance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92608" y="3493008"/>
            <a:ext cx="2029968" cy="1389888"/>
          </a:xfrm>
          <a:prstGeom prst="rect">
            <a:avLst/>
          </a:prstGeom>
          <a:solidFill>
            <a:srgbClr val="0D1A30"/>
          </a:solidFill>
          <a:ln w="15240">
            <a:solidFill>
              <a:srgbClr val="E8772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92608" y="3602736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7722"/>
                </a:solidFill>
              </a:rPr>
              <a:t>↓ Credit Loss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92608" y="404164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ECB"/>
                </a:solidFill>
              </a:rPr>
              <a:t>GSE Reserve Protection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468880" y="3493008"/>
            <a:ext cx="2029968" cy="1389888"/>
          </a:xfrm>
          <a:prstGeom prst="rect">
            <a:avLst/>
          </a:prstGeom>
          <a:solidFill>
            <a:srgbClr val="0D1A30"/>
          </a:solidFill>
          <a:ln w="15240">
            <a:solidFill>
              <a:srgbClr val="E8772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68880" y="3602736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7722"/>
                </a:solidFill>
              </a:rPr>
              <a:t>↑ G-Fee Volume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468880" y="404164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ECB"/>
                </a:solidFill>
              </a:rPr>
              <a:t>Expanded Addressable Market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45152" y="3493008"/>
            <a:ext cx="2029968" cy="1389888"/>
          </a:xfrm>
          <a:prstGeom prst="rect">
            <a:avLst/>
          </a:prstGeom>
          <a:solidFill>
            <a:srgbClr val="0D1A30"/>
          </a:solidFill>
          <a:ln w="15240">
            <a:solidFill>
              <a:srgbClr val="E8772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45152" y="3602736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7722"/>
                </a:solidFill>
              </a:rPr>
              <a:t>↑ MSR Quality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645152" y="404164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ECB"/>
                </a:solidFill>
              </a:rPr>
              <a:t>Lower Prepay &amp; Default Risk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821424" y="3493008"/>
            <a:ext cx="2029968" cy="1389888"/>
          </a:xfrm>
          <a:prstGeom prst="rect">
            <a:avLst/>
          </a:prstGeom>
          <a:solidFill>
            <a:srgbClr val="0D1A30"/>
          </a:solidFill>
          <a:ln w="15240">
            <a:solidFill>
              <a:srgbClr val="E8772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21424" y="3602736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7722"/>
                </a:solidFill>
              </a:rPr>
              <a:t>New Revenue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821424" y="404164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ECB"/>
                </a:solidFill>
              </a:rPr>
              <a:t>BTC Upside Participation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92608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E8A"/>
                </a:solidFill>
              </a:rPr>
              <a:t>akkume.com  |  DACI Framework  |  Q-BR™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HOW Q-BR™ WORKS</a:t>
            </a:r>
            <a:endParaRPr lang="en-US" sz="2200" dirty="0"/>
          </a:p>
        </p:txBody>
      </p:sp>
      <p:pic>
        <p:nvPicPr>
          <p:cNvPr id="5" name="Image 0" descr="/home/claude/akkum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45720"/>
            <a:ext cx="804672" cy="75652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407408" y="1874520"/>
            <a:ext cx="54864" cy="11887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334256" y="2971800"/>
            <a:ext cx="201168" cy="20116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47472" y="868680"/>
            <a:ext cx="405993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7472" y="868680"/>
            <a:ext cx="804672" cy="1783080"/>
          </a:xfrm>
          <a:prstGeom prst="rect">
            <a:avLst/>
          </a:prstGeom>
          <a:solidFill>
            <a:srgbClr val="1A2F55"/>
          </a:solidFill>
          <a:ln w="12700">
            <a:solidFill>
              <a:srgbClr val="1A2F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7472" y="868680"/>
            <a:ext cx="8046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7722"/>
                </a:solidFill>
              </a:rPr>
              <a:t>①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1243584" y="103327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</a:rPr>
              <a:t>Bifurcated Down Payment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43584" y="1380744"/>
            <a:ext cx="30632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99"/>
                </a:solidFill>
              </a:rPr>
              <a:t>Buyer's down payment splits: minimum cash to seller for conventional close; remainder purchases Bitcoin held in segregated reserve.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690872" y="868680"/>
            <a:ext cx="405993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90872" y="868680"/>
            <a:ext cx="804672" cy="1783080"/>
          </a:xfrm>
          <a:prstGeom prst="rect">
            <a:avLst/>
          </a:prstGeom>
          <a:solidFill>
            <a:srgbClr val="1A2F55"/>
          </a:solidFill>
          <a:ln w="12700">
            <a:solidFill>
              <a:srgbClr val="1A2F5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90872" y="868680"/>
            <a:ext cx="8046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7722"/>
                </a:solidFill>
              </a:rPr>
              <a:t>②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5586984" y="103327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</a:rPr>
              <a:t>Bitcoin Reserve Buffer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586984" y="1380744"/>
            <a:ext cx="30632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99"/>
                </a:solidFill>
              </a:rPr>
              <a:t>BTC sits in a segregated custodial account. It absorbs first-loss before the GSE guarantee is ever triggered.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47472" y="2825496"/>
            <a:ext cx="405993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47472" y="2825496"/>
            <a:ext cx="804672" cy="1783080"/>
          </a:xfrm>
          <a:prstGeom prst="rect">
            <a:avLst/>
          </a:prstGeom>
          <a:solidFill>
            <a:srgbClr val="1A2F55"/>
          </a:solidFill>
          <a:ln w="12700">
            <a:solidFill>
              <a:srgbClr val="1A2F5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47472" y="2825496"/>
            <a:ext cx="8046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7722"/>
                </a:solidFill>
              </a:rPr>
              <a:t>③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1243584" y="29900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</a:rPr>
              <a:t>Lender Coupon Concession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243584" y="3337560"/>
            <a:ext cx="30632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99"/>
                </a:solidFill>
              </a:rPr>
              <a:t>Lender accepts a modest rate concession in exchange for better credit quality and upside participation in BTC appreciation.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690872" y="2825496"/>
            <a:ext cx="405993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90872" y="2825496"/>
            <a:ext cx="804672" cy="1783080"/>
          </a:xfrm>
          <a:prstGeom prst="rect">
            <a:avLst/>
          </a:prstGeom>
          <a:solidFill>
            <a:srgbClr val="1A2F55"/>
          </a:solidFill>
          <a:ln w="12700">
            <a:solidFill>
              <a:srgbClr val="1A2F5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690872" y="2825496"/>
            <a:ext cx="8046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7722"/>
                </a:solidFill>
              </a:rPr>
              <a:t>④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5586984" y="29900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</a:rPr>
              <a:t>GSE Pilot via Conservatorship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586984" y="3337560"/>
            <a:ext cx="30632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99"/>
                </a:solidFill>
              </a:rPr>
              <a:t>FHFA Director authorizes pilot under existing conservatorship authority — no Act of Congress required.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GSE FINANCIAL CASE</a:t>
            </a:r>
            <a:endParaRPr lang="en-US" sz="2200" dirty="0"/>
          </a:p>
        </p:txBody>
      </p:sp>
      <p:pic>
        <p:nvPicPr>
          <p:cNvPr id="5" name="Image 0" descr="/home/claude/akkum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45720"/>
            <a:ext cx="804672" cy="75652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4048" y="7772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99"/>
                </a:solidFill>
              </a:rPr>
              <a:t>Four distinct profit and risk-reduction mechanisms for Fannie Mae &amp; Freddie Mac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47472" y="1170432"/>
            <a:ext cx="4059936" cy="1810512"/>
          </a:xfrm>
          <a:prstGeom prst="rect">
            <a:avLst/>
          </a:prstGeom>
          <a:solidFill>
            <a:srgbClr val="FFFFFF"/>
          </a:solidFill>
          <a:ln w="19050">
            <a:solidFill>
              <a:srgbClr val="E8772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12064" y="1261872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55"/>
                </a:solidFill>
              </a:rPr>
              <a:t>01   Credit Loss Reduction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12064" y="1591056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B87B"/>
                </a:solidFill>
              </a:rPr>
              <a:t>Est. 35–55%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12064" y="2048256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A99"/>
                </a:solidFill>
              </a:rPr>
              <a:t>reduction in expected loss severity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12064" y="2286000"/>
            <a:ext cx="3730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</a:rPr>
              <a:t>Bitcoin reserve absorbs first-loss before GSE guarantee triggers. At 25% BTC coverage on a $400K loan, the GSE faces zero loss unless both the home AND Bitcoin decline simultaneously — a historically rare joint event.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90872" y="1170432"/>
            <a:ext cx="4059936" cy="1810512"/>
          </a:xfrm>
          <a:prstGeom prst="rect">
            <a:avLst/>
          </a:prstGeom>
          <a:solidFill>
            <a:srgbClr val="FFFFFF"/>
          </a:solidFill>
          <a:ln w="19050">
            <a:solidFill>
              <a:srgbClr val="E8772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855464" y="1261872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55"/>
                </a:solidFill>
              </a:rPr>
              <a:t>02   G-Fee Revenue Expansion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855464" y="1591056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7722"/>
                </a:solidFill>
              </a:rPr>
              <a:t>+$8–14B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4855464" y="2048256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A99"/>
                </a:solidFill>
              </a:rPr>
              <a:t>addressable g-fee revenue (est.)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855464" y="2286000"/>
            <a:ext cx="3730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</a:rPr>
              <a:t>~8M Bitcoin holders cannot buy homes without liquidating BTC and paying capital gains. Q-BR makes these borrowers GSE-eligible. Even 5% conversion = ~400K new conforming loans × avg. $380K × 55bps g-fee.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47472" y="3072384"/>
            <a:ext cx="4059936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12064" y="3163824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55"/>
                </a:solidFill>
              </a:rPr>
              <a:t>03   Capital Relief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12064" y="3493008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7722"/>
                </a:solidFill>
              </a:rPr>
              <a:t>Lower RWA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512064" y="3950208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A99"/>
                </a:solidFill>
              </a:rPr>
              <a:t>risk-weighted asset density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12064" y="4187952"/>
            <a:ext cx="3730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</a:rPr>
              <a:t>Bitcoin-buffered loans have demonstrably lower expected loss, which reduces required credit risk capital under conservatorship. Lower capital consumption on the same book = higher return on equity for the GSEs.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690872" y="3072384"/>
            <a:ext cx="4059936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855464" y="3163824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55"/>
                </a:solidFill>
              </a:rPr>
              <a:t>04   BTC Upside Participation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855464" y="3493008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7722"/>
                </a:solidFill>
              </a:rPr>
              <a:t>New Line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4855464" y="3950208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A99"/>
                </a:solidFill>
              </a:rPr>
              <a:t>non-interest revenue stream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855464" y="4187952"/>
            <a:ext cx="3730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</a:rPr>
              <a:t>GSEs negotiate a small participation fee (e.g., 5–10bps annually) on outstanding BTC reserve balances. On $50B in BTC reserves, that's $25–50M/year in new non-interest income with zero credit risk to the GSE.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LENDER ECONOMICS: THE REAL NUMBERS</a:t>
            </a:r>
            <a:endParaRPr lang="en-US" sz="2200" dirty="0"/>
          </a:p>
        </p:txBody>
      </p:sp>
      <p:pic>
        <p:nvPicPr>
          <p:cNvPr id="5" name="Image 0" descr="/home/claude/akkum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45720"/>
            <a:ext cx="804672" cy="75652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4048" y="804672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2D3748"/>
                </a:solidFill>
              </a:rPr>
              <a:t>Scenario: $500,000 Purchase  |  90% LTV  |  Bitcoin Holder Borrower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47472" y="1188720"/>
            <a:ext cx="2011680" cy="457200"/>
          </a:xfrm>
          <a:prstGeom prst="rect">
            <a:avLst/>
          </a:prstGeom>
          <a:solidFill>
            <a:srgbClr val="1A2F55"/>
          </a:solidFill>
          <a:ln w="12700">
            <a:solidFill>
              <a:srgbClr val="1A2F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7472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Metric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395728" y="1188720"/>
            <a:ext cx="1554480" cy="457200"/>
          </a:xfrm>
          <a:prstGeom prst="rect">
            <a:avLst/>
          </a:prstGeom>
          <a:solidFill>
            <a:srgbClr val="1A2F55"/>
          </a:solidFill>
          <a:ln w="12700">
            <a:solidFill>
              <a:srgbClr val="1A2F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395728" y="1188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Conventional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(No BTC)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986784" y="1188720"/>
            <a:ext cx="2011680" cy="4572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986784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Q-BR™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(BTC Reserve)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035040" y="1188720"/>
            <a:ext cx="2697480" cy="457200"/>
          </a:xfrm>
          <a:prstGeom prst="rect">
            <a:avLst/>
          </a:prstGeom>
          <a:solidFill>
            <a:srgbClr val="1A2F55"/>
          </a:solidFill>
          <a:ln w="12700">
            <a:solidFill>
              <a:srgbClr val="1A2F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35040" y="1188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Lender Impact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47472" y="1664208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8912" y="17190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Loan Amount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395728" y="1664208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487168" y="17190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</a:rPr>
              <a:t>$450,000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986784" y="1664208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078224" y="17190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</a:rPr>
              <a:t>$450,000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035040" y="1664208"/>
            <a:ext cx="2697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26480" y="1719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</a:rPr>
              <a:t>Same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47472" y="2066544"/>
            <a:ext cx="2011680" cy="384048"/>
          </a:xfrm>
          <a:prstGeom prst="rect">
            <a:avLst/>
          </a:prstGeom>
          <a:solidFill>
            <a:srgbClr val="F0F3F8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8912" y="21214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Note Rate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395728" y="2066544"/>
            <a:ext cx="1554480" cy="384048"/>
          </a:xfrm>
          <a:prstGeom prst="rect">
            <a:avLst/>
          </a:prstGeom>
          <a:solidFill>
            <a:srgbClr val="F0F3F8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487168" y="21214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</a:rPr>
              <a:t>7.25%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986784" y="2066544"/>
            <a:ext cx="2011680" cy="384048"/>
          </a:xfrm>
          <a:prstGeom prst="rect">
            <a:avLst/>
          </a:prstGeom>
          <a:solidFill>
            <a:srgbClr val="F0F3F8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078224" y="21214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7722"/>
                </a:solidFill>
              </a:rPr>
              <a:t>6.875%  (−37.5 bps)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035040" y="2066544"/>
            <a:ext cx="2697480" cy="384048"/>
          </a:xfrm>
          <a:prstGeom prst="rect">
            <a:avLst/>
          </a:prstGeom>
          <a:solidFill>
            <a:srgbClr val="F0F3F8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126480" y="21214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7722"/>
                </a:solidFill>
              </a:rPr>
              <a:t>↓ Coupon yield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47472" y="2468880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38912" y="252374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PMI Required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2395728" y="2468880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487168" y="25237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</a:rPr>
              <a:t>Yes — ~$225/mo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3986784" y="2468880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078224" y="252374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7722"/>
                </a:solidFill>
              </a:rPr>
              <a:t>No — BTC buffer replaces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035040" y="2468880"/>
            <a:ext cx="2697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126480" y="25237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B87B"/>
                </a:solidFill>
              </a:rPr>
              <a:t>↑ Simpler close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347472" y="2871216"/>
            <a:ext cx="2011680" cy="384048"/>
          </a:xfrm>
          <a:prstGeom prst="rect">
            <a:avLst/>
          </a:prstGeom>
          <a:solidFill>
            <a:srgbClr val="F0F3F8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38912" y="2926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Default Probability (est.)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2395728" y="2871216"/>
            <a:ext cx="1554480" cy="384048"/>
          </a:xfrm>
          <a:prstGeom prst="rect">
            <a:avLst/>
          </a:prstGeom>
          <a:solidFill>
            <a:srgbClr val="F0F3F8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2487168" y="29260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</a:rPr>
              <a:t>2.1%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3986784" y="2871216"/>
            <a:ext cx="2011680" cy="384048"/>
          </a:xfrm>
          <a:prstGeom prst="rect">
            <a:avLst/>
          </a:prstGeom>
          <a:solidFill>
            <a:srgbClr val="F0F3F8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078224" y="2926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7722"/>
                </a:solidFill>
              </a:rPr>
              <a:t>0.9%  (−57%)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6035040" y="2871216"/>
            <a:ext cx="2697480" cy="384048"/>
          </a:xfrm>
          <a:prstGeom prst="rect">
            <a:avLst/>
          </a:prstGeom>
          <a:solidFill>
            <a:srgbClr val="F0F3F8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126480" y="2926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B87B"/>
                </a:solidFill>
              </a:rPr>
              <a:t>↑ MSR quality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347472" y="3273552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38912" y="332841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Servicing Value (MSR)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2395728" y="3273552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2487168" y="332841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</a:rPr>
              <a:t>3.5× strip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3986784" y="3273552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078224" y="332841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7722"/>
                </a:solidFill>
              </a:rPr>
              <a:t>4.1× strip  (+17%)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6035040" y="3273552"/>
            <a:ext cx="2697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126480" y="33284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B87B"/>
                </a:solidFill>
              </a:rPr>
              <a:t>↑↑ MSR book value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347472" y="3675888"/>
            <a:ext cx="2011680" cy="384048"/>
          </a:xfrm>
          <a:prstGeom prst="rect">
            <a:avLst/>
          </a:prstGeom>
          <a:solidFill>
            <a:srgbClr val="F0F3F8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438912" y="37307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Origination Fee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2395728" y="3675888"/>
            <a:ext cx="1554480" cy="384048"/>
          </a:xfrm>
          <a:prstGeom prst="rect">
            <a:avLst/>
          </a:prstGeom>
          <a:solidFill>
            <a:srgbClr val="F0F3F8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2487168" y="37307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</a:rPr>
              <a:t>$4,500  (1 pt)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3986784" y="3675888"/>
            <a:ext cx="2011680" cy="384048"/>
          </a:xfrm>
          <a:prstGeom prst="rect">
            <a:avLst/>
          </a:prstGeom>
          <a:solidFill>
            <a:srgbClr val="F0F3F8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4078224" y="37307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</a:rPr>
              <a:t>$4,500  (1 pt)</a:t>
            </a:r>
            <a:endParaRPr lang="en-US" sz="1100" dirty="0"/>
          </a:p>
        </p:txBody>
      </p:sp>
      <p:sp>
        <p:nvSpPr>
          <p:cNvPr id="61" name="Shape 58"/>
          <p:cNvSpPr/>
          <p:nvPr/>
        </p:nvSpPr>
        <p:spPr>
          <a:xfrm>
            <a:off x="6035040" y="3675888"/>
            <a:ext cx="2697480" cy="384048"/>
          </a:xfrm>
          <a:prstGeom prst="rect">
            <a:avLst/>
          </a:prstGeom>
          <a:solidFill>
            <a:srgbClr val="F0F3F8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126480" y="3730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</a:rPr>
              <a:t>Same</a:t>
            </a:r>
            <a:endParaRPr lang="en-US" sz="1100" dirty="0"/>
          </a:p>
        </p:txBody>
      </p:sp>
      <p:sp>
        <p:nvSpPr>
          <p:cNvPr id="63" name="Shape 60"/>
          <p:cNvSpPr/>
          <p:nvPr/>
        </p:nvSpPr>
        <p:spPr>
          <a:xfrm>
            <a:off x="347472" y="4078224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438912" y="41330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Cross-Sell Opportunity</a:t>
            </a:r>
            <a:endParaRPr lang="en-US" sz="1100" dirty="0"/>
          </a:p>
        </p:txBody>
      </p:sp>
      <p:sp>
        <p:nvSpPr>
          <p:cNvPr id="65" name="Shape 62"/>
          <p:cNvSpPr/>
          <p:nvPr/>
        </p:nvSpPr>
        <p:spPr>
          <a:xfrm>
            <a:off x="2395728" y="4078224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2487168" y="4133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</a:rPr>
              <a:t>Standard</a:t>
            </a:r>
            <a:endParaRPr lang="en-US" sz="1100" dirty="0"/>
          </a:p>
        </p:txBody>
      </p:sp>
      <p:sp>
        <p:nvSpPr>
          <p:cNvPr id="67" name="Shape 64"/>
          <p:cNvSpPr/>
          <p:nvPr/>
        </p:nvSpPr>
        <p:spPr>
          <a:xfrm>
            <a:off x="3986784" y="4078224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4078224" y="41330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7722"/>
                </a:solidFill>
              </a:rPr>
              <a:t>Premium (BTC-holder HNW)</a:t>
            </a:r>
            <a:endParaRPr lang="en-US" sz="1100" dirty="0"/>
          </a:p>
        </p:txBody>
      </p:sp>
      <p:sp>
        <p:nvSpPr>
          <p:cNvPr id="69" name="Shape 66"/>
          <p:cNvSpPr/>
          <p:nvPr/>
        </p:nvSpPr>
        <p:spPr>
          <a:xfrm>
            <a:off x="6035040" y="4078224"/>
            <a:ext cx="2697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6126480" y="41330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B87B"/>
                </a:solidFill>
              </a:rPr>
              <a:t>↑ LTV per customer</a:t>
            </a:r>
            <a:endParaRPr lang="en-US" sz="1100" dirty="0"/>
          </a:p>
        </p:txBody>
      </p:sp>
      <p:sp>
        <p:nvSpPr>
          <p:cNvPr id="71" name="Shape 68"/>
          <p:cNvSpPr/>
          <p:nvPr/>
        </p:nvSpPr>
        <p:spPr>
          <a:xfrm>
            <a:off x="347472" y="4480560"/>
            <a:ext cx="2011680" cy="384048"/>
          </a:xfrm>
          <a:prstGeom prst="rect">
            <a:avLst/>
          </a:prstGeom>
          <a:solidFill>
            <a:srgbClr val="E8F5EC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438912" y="453542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F55"/>
                </a:solidFill>
              </a:rPr>
              <a:t>Net Risk-Adj. Return</a:t>
            </a:r>
            <a:endParaRPr lang="en-US" sz="1150" dirty="0"/>
          </a:p>
        </p:txBody>
      </p:sp>
      <p:sp>
        <p:nvSpPr>
          <p:cNvPr id="73" name="Shape 70"/>
          <p:cNvSpPr/>
          <p:nvPr/>
        </p:nvSpPr>
        <p:spPr>
          <a:xfrm>
            <a:off x="2395728" y="4480560"/>
            <a:ext cx="1554480" cy="384048"/>
          </a:xfrm>
          <a:prstGeom prst="rect">
            <a:avLst/>
          </a:prstGeom>
          <a:solidFill>
            <a:srgbClr val="E8F5EC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2487168" y="453542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F55"/>
                </a:solidFill>
              </a:rPr>
              <a:t>Index: 100</a:t>
            </a:r>
            <a:endParaRPr lang="en-US" sz="1150" dirty="0"/>
          </a:p>
        </p:txBody>
      </p:sp>
      <p:sp>
        <p:nvSpPr>
          <p:cNvPr id="75" name="Shape 72"/>
          <p:cNvSpPr/>
          <p:nvPr/>
        </p:nvSpPr>
        <p:spPr>
          <a:xfrm>
            <a:off x="3986784" y="4480560"/>
            <a:ext cx="2011680" cy="384048"/>
          </a:xfrm>
          <a:prstGeom prst="rect">
            <a:avLst/>
          </a:prstGeom>
          <a:solidFill>
            <a:srgbClr val="E8F5EC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4078224" y="453542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B87B"/>
                </a:solidFill>
              </a:rPr>
              <a:t>Index: 118–124</a:t>
            </a:r>
            <a:endParaRPr lang="en-US" sz="1150" dirty="0"/>
          </a:p>
        </p:txBody>
      </p:sp>
      <p:sp>
        <p:nvSpPr>
          <p:cNvPr id="77" name="Shape 74"/>
          <p:cNvSpPr/>
          <p:nvPr/>
        </p:nvSpPr>
        <p:spPr>
          <a:xfrm>
            <a:off x="6035040" y="4480560"/>
            <a:ext cx="2697480" cy="384048"/>
          </a:xfrm>
          <a:prstGeom prst="rect">
            <a:avLst/>
          </a:prstGeom>
          <a:solidFill>
            <a:srgbClr val="E8F5EC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6126480" y="45354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B87B"/>
                </a:solidFill>
              </a:rPr>
              <a:t>↑ 18–24% advantage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MSR QUALITY ADVANTAGE</a:t>
            </a:r>
            <a:endParaRPr lang="en-US" sz="2200" dirty="0"/>
          </a:p>
        </p:txBody>
      </p:sp>
      <p:pic>
        <p:nvPicPr>
          <p:cNvPr id="5" name="Image 0" descr="/home/claude/akkum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45720"/>
            <a:ext cx="804672" cy="75652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4048" y="77724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99"/>
                </a:solidFill>
              </a:rPr>
              <a:t>Why Bitcoin-buffered loans produce a higher-quality Mortgage Servicing Right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47472" y="1115568"/>
          <a:ext cx="48463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5376672" y="1115568"/>
            <a:ext cx="3429000" cy="841248"/>
          </a:xfrm>
          <a:prstGeom prst="rect">
            <a:avLst/>
          </a:prstGeom>
          <a:solidFill>
            <a:srgbClr val="1A2F55"/>
          </a:solidFill>
          <a:ln w="12700">
            <a:solidFill>
              <a:srgbClr val="E8772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532120" y="1170432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722"/>
                </a:solidFill>
              </a:rPr>
              <a:t>Lower Prepay Risk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532120" y="1444752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B"/>
                </a:solidFill>
              </a:rPr>
              <a:t>BTC-holding borrowers have stronger commitment to ownership. Voluntary prepayment speeds ~15-20% below peer group.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376672" y="2048256"/>
            <a:ext cx="3429000" cy="841248"/>
          </a:xfrm>
          <a:prstGeom prst="rect">
            <a:avLst/>
          </a:prstGeom>
          <a:solidFill>
            <a:srgbClr val="1A2F55"/>
          </a:solidFill>
          <a:ln w="12700">
            <a:solidFill>
              <a:srgbClr val="E8772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532120" y="2103120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722"/>
                </a:solidFill>
              </a:rPr>
              <a:t>Lower Default Risk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532120" y="237744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B"/>
                </a:solidFill>
              </a:rPr>
              <a:t>Dual-asset collateral (home + BTC) reduces realized default by est. 57%. MSR cash flow is more predictable.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376672" y="2980944"/>
            <a:ext cx="3429000" cy="841248"/>
          </a:xfrm>
          <a:prstGeom prst="rect">
            <a:avLst/>
          </a:prstGeom>
          <a:solidFill>
            <a:srgbClr val="1A2F55"/>
          </a:solidFill>
          <a:ln w="12700">
            <a:solidFill>
              <a:srgbClr val="E8772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5532120" y="303580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722"/>
                </a:solidFill>
              </a:rPr>
              <a:t>Better Credit Profile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532120" y="3310128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B"/>
                </a:solidFill>
              </a:rPr>
              <a:t>Bitcoin holders skew younger, higher-income, and asset-rich. Portfolio duration and quality improve.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376672" y="3913632"/>
            <a:ext cx="3429000" cy="841248"/>
          </a:xfrm>
          <a:prstGeom prst="rect">
            <a:avLst/>
          </a:prstGeom>
          <a:solidFill>
            <a:srgbClr val="1A2F55"/>
          </a:solidFill>
          <a:ln w="12700">
            <a:solidFill>
              <a:srgbClr val="E8772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5532120" y="3968496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722"/>
                </a:solidFill>
              </a:rPr>
              <a:t>Higher Book Value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532120" y="4242816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B"/>
                </a:solidFill>
              </a:rPr>
              <a:t>At 4.1× vs. 3.5× strip, a $500M servicing portfolio is worth ~$85M more on the balance sheet.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UNTAPPED MARKET: 8 MILLION BITCOIN HOLDERS</a:t>
            </a:r>
            <a:endParaRPr lang="en-US" sz="2000" dirty="0"/>
          </a:p>
        </p:txBody>
      </p:sp>
      <p:pic>
        <p:nvPicPr>
          <p:cNvPr id="5" name="Image 0" descr="/home/claude/akkum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45720"/>
            <a:ext cx="804672" cy="75652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4048" y="7772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99"/>
                </a:solidFill>
              </a:rPr>
              <a:t>These borrowers have wealth — they simply can't access GSE financing without liquidating Bitcoin and paying capital gains tax.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47472" y="1170432"/>
            <a:ext cx="2029968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E8772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47472" y="1261872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7722"/>
                </a:solidFill>
              </a:rPr>
              <a:t>~8M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347472" y="1901952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99"/>
                </a:solidFill>
              </a:rPr>
              <a:t>U.S. Bitcoin holders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A99"/>
                </a:solidFill>
              </a:rPr>
              <a:t>with &gt;$50K BTC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23744" y="1170432"/>
            <a:ext cx="2029968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2F5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523744" y="1261872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2F55"/>
                </a:solidFill>
              </a:rPr>
              <a:t>~2.5M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2523744" y="1901952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99"/>
                </a:solidFill>
              </a:rPr>
              <a:t>estimated home-purchase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A99"/>
                </a:solidFill>
              </a:rPr>
              <a:t>eligible (income + age)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0016" y="1170432"/>
            <a:ext cx="2029968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DB87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700016" y="1261872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DB87B"/>
                </a:solidFill>
              </a:rPr>
              <a:t>~400K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4700016" y="1901952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99"/>
                </a:solidFill>
              </a:rPr>
              <a:t>reachable in Year 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A99"/>
                </a:solidFill>
              </a:rPr>
              <a:t>(pilot states)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876288" y="1170432"/>
            <a:ext cx="2029968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2F5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876288" y="1261872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2F55"/>
                </a:solidFill>
              </a:rPr>
              <a:t>$152B</a:t>
            </a:r>
            <a:endParaRPr lang="en-US" sz="3400" dirty="0"/>
          </a:p>
        </p:txBody>
      </p:sp>
      <p:sp>
        <p:nvSpPr>
          <p:cNvPr id="18" name="Text 15"/>
          <p:cNvSpPr/>
          <p:nvPr/>
        </p:nvSpPr>
        <p:spPr>
          <a:xfrm>
            <a:off x="6876288" y="1901952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99"/>
                </a:solidFill>
              </a:rPr>
              <a:t>estimated UPB of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A99"/>
                </a:solidFill>
              </a:rPr>
              <a:t>pilot-year originations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47472" y="2724912"/>
            <a:ext cx="8458200" cy="2148840"/>
          </a:xfrm>
          <a:prstGeom prst="rect">
            <a:avLst/>
          </a:prstGeom>
          <a:solidFill>
            <a:srgbClr val="1A2F55"/>
          </a:solidFill>
          <a:ln w="12700">
            <a:solidFill>
              <a:srgbClr val="1A2F5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30352" y="2798064"/>
            <a:ext cx="8092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722"/>
                </a:solidFill>
              </a:rPr>
              <a:t>G-FEE REVENUE MATH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30352" y="3163824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400,000 loans  ×  avg. $380,000 UPB  =  $152B new UPB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30352" y="3639312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$152B  ×  55 bps g-fee  =  $836M annual guarantee fee income — Year 1 pilot alone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30352" y="4114800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7722"/>
                </a:solidFill>
              </a:rPr>
              <a:t>At full program scale (2.5M eligible borrowers × 20% annual take-up):  $5.2B+ in g-fee revenue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PMI OPPORTUNITY: THREAT OR WINDFALL?</a:t>
            </a:r>
            <a:endParaRPr lang="en-US" sz="2000" dirty="0"/>
          </a:p>
        </p:txBody>
      </p:sp>
      <p:pic>
        <p:nvPicPr>
          <p:cNvPr id="5" name="Image 0" descr="/home/claude/akkum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45720"/>
            <a:ext cx="804672" cy="75652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4048" y="77724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99"/>
                </a:solidFill>
              </a:rPr>
              <a:t>PMI companies face a fork in the road — and the winning path is clear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47472" y="1115568"/>
            <a:ext cx="4059936" cy="3730752"/>
          </a:xfrm>
          <a:prstGeom prst="rect">
            <a:avLst/>
          </a:prstGeom>
          <a:solidFill>
            <a:srgbClr val="FFFFFF"/>
          </a:solidFill>
          <a:ln w="25400">
            <a:solidFill>
              <a:srgbClr val="E53E3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" y="12070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3E3E"/>
                </a:solidFill>
              </a:rPr>
              <a:t>❌  STATUS QUO RISK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" y="1664208"/>
            <a:ext cx="146304" cy="146304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162763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</a:rPr>
              <a:t>▸  Bitcoin reserve buffers replace PMI as the credit enhancement on Q-BR loans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2920" y="2176272"/>
            <a:ext cx="146304" cy="146304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21396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</a:rPr>
              <a:t>▸  PMI premium income lost on every Bitcoin-buffered origination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02920" y="2688336"/>
            <a:ext cx="146304" cy="146304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265176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</a:rPr>
              <a:t>▸  As program scales, PMI market share erodes — passively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02920" y="3200400"/>
            <a:ext cx="146304" cy="146304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316382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</a:rPr>
              <a:t>▸  Companies that wait are disintermediated without revenue replacement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681728" y="1115568"/>
            <a:ext cx="4114800" cy="3730752"/>
          </a:xfrm>
          <a:prstGeom prst="rect">
            <a:avLst/>
          </a:prstGeom>
          <a:solidFill>
            <a:srgbClr val="FFFFFF"/>
          </a:solidFill>
          <a:ln w="25400">
            <a:solidFill>
              <a:srgbClr val="1DB87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828032" y="1207008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B87B"/>
                </a:solidFill>
              </a:rPr>
              <a:t>✅  THE WINNING MOVE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828032" y="1682496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B87B"/>
                </a:solidFill>
              </a:rPr>
              <a:t>Become the BTC Reserve Administrator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828032" y="1956816"/>
            <a:ext cx="3803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9"/>
                </a:solidFill>
              </a:rPr>
              <a:t>Wrap the Bitcoin reserve buffer with an insurance product. Charge 30–50 bps annual admin fee on BTC reserves.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828032" y="2468880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B87B"/>
                </a:solidFill>
              </a:rPr>
              <a:t>New Premium Income Stream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828032" y="2743200"/>
            <a:ext cx="3803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9"/>
                </a:solidFill>
              </a:rPr>
              <a:t>On $50B in BTC reserves: $150–250M/year in admin fees. This is additive to existing PMI book.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828032" y="3255264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B87B"/>
                </a:solidFill>
              </a:rPr>
              <a:t>First-Mover Moat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828032" y="3529584"/>
            <a:ext cx="3803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9"/>
                </a:solidFill>
              </a:rPr>
              <a:t>The PMI company that builds BTC reserve infrastructure first owns the rails. Competitors must follow their terms.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828032" y="4041648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B87B"/>
                </a:solidFill>
              </a:rPr>
              <a:t>Regulatory Bridge Role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828032" y="4315968"/>
            <a:ext cx="3803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9"/>
                </a:solidFill>
              </a:rPr>
              <a:t>PMI companies have existing FHFA relationships. Positioning as the intermediary layer aligns with conservatorship pilot structure.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IMPLEMENTATION PATHWAY: NO ACT OF CONGRESS REQUIRED</a:t>
            </a:r>
            <a:endParaRPr lang="en-US" sz="1800" dirty="0"/>
          </a:p>
        </p:txBody>
      </p:sp>
      <p:pic>
        <p:nvPicPr>
          <p:cNvPr id="5" name="Image 0" descr="/home/claude/akkum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45720"/>
            <a:ext cx="804672" cy="75652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47472" y="804672"/>
            <a:ext cx="2743200" cy="40233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7472" y="8046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F3D"/>
                </a:solidFill>
              </a:rPr>
              <a:t>Phase 1  |  Q3–Q4 2025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7472" y="1225296"/>
            <a:ext cx="2743200" cy="3611880"/>
          </a:xfrm>
          <a:prstGeom prst="rect">
            <a:avLst/>
          </a:prstGeom>
          <a:solidFill>
            <a:srgbClr val="FFFFFF"/>
          </a:solidFill>
          <a:ln w="15240">
            <a:solidFill>
              <a:srgbClr val="E8772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3776" y="1316736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</a:rPr>
              <a:t>GSE Pilot Authorization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3776" y="1682496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A99"/>
                </a:solidFill>
              </a:rPr>
              <a:t>Authority: FHFA Director (Pulte) via conservatorship authority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93776" y="2121408"/>
            <a:ext cx="2304288" cy="27432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3776" y="2212848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</a:rPr>
              <a:t>→  FHFA issues pilot guidance memo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3776" y="2743200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</a:rPr>
              <a:t>→  2–3 lender volunteers identified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3776" y="3273552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</a:rPr>
              <a:t>→  BTC reserve custodian selected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93776" y="3803904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</a:rPr>
              <a:t>→  250–500 loan pilot in 3 states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255264" y="804672"/>
            <a:ext cx="2743200" cy="402336"/>
          </a:xfrm>
          <a:prstGeom prst="rect">
            <a:avLst/>
          </a:prstGeom>
          <a:solidFill>
            <a:srgbClr val="A0AECB"/>
          </a:solidFill>
          <a:ln w="12700">
            <a:solidFill>
              <a:srgbClr val="A0AEC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55264" y="8046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F3D"/>
                </a:solidFill>
              </a:rPr>
              <a:t>Phase 2  |  2026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255264" y="1225296"/>
            <a:ext cx="2743200" cy="3611880"/>
          </a:xfrm>
          <a:prstGeom prst="rect">
            <a:avLst/>
          </a:prstGeom>
          <a:solidFill>
            <a:srgbClr val="FFFFFF"/>
          </a:solidFill>
          <a:ln w="15240">
            <a:solidFill>
              <a:srgbClr val="A0AEC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401568" y="1316736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</a:rPr>
              <a:t>Program Expansion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401568" y="1682496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A99"/>
                </a:solidFill>
              </a:rPr>
              <a:t>Authority: HUD, VA, OCC coordination + Treasury (FSOC)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401568" y="2121408"/>
            <a:ext cx="2304288" cy="27432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01568" y="2212848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</a:rPr>
              <a:t>→  FHA/VA equivalents authorized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401568" y="2743200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</a:rPr>
              <a:t>→  OCC issues lender guidance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401568" y="3273552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</a:rPr>
              <a:t>→  PMI admin wrapper launched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401568" y="3803904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</a:rPr>
              <a:t>→  National rollout begins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163056" y="804672"/>
            <a:ext cx="2743200" cy="402336"/>
          </a:xfrm>
          <a:prstGeom prst="rect">
            <a:avLst/>
          </a:prstGeom>
          <a:solidFill>
            <a:srgbClr val="1DB87B"/>
          </a:solidFill>
          <a:ln w="12700">
            <a:solidFill>
              <a:srgbClr val="1DB87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63056" y="8046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F3D"/>
                </a:solidFill>
              </a:rPr>
              <a:t>Phase 3  |  2027+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163056" y="1225296"/>
            <a:ext cx="2743200" cy="3611880"/>
          </a:xfrm>
          <a:prstGeom prst="rect">
            <a:avLst/>
          </a:prstGeom>
          <a:solidFill>
            <a:srgbClr val="FFFFFF"/>
          </a:solidFill>
          <a:ln w="15240">
            <a:solidFill>
              <a:srgbClr val="1DB87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6309360" y="1316736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</a:rPr>
              <a:t>Mandatory Program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309360" y="1682496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A99"/>
                </a:solidFill>
              </a:rPr>
              <a:t>Authority: Presidential Executive Order + FSOC coordination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309360" y="2121408"/>
            <a:ext cx="2304288" cy="27432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09360" y="2212848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</a:rPr>
              <a:t>→  Bessent/FSOC systemic designation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309360" y="2743200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</a:rPr>
              <a:t>→  All conforming lenders eligible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309360" y="3273552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</a:rPr>
              <a:t>→  Q-BR DACI metrics go live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309360" y="3803904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</a:rPr>
              <a:t>→  Full Q-BR national market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384048" y="489204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99"/>
                </a:solidFill>
              </a:rPr>
              <a:t>Key insight: FHFA Director Pulte has existing conservatorship authority to authorize a GSE pilot. Phase 1 requires no legislation.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BCR: THE CENTERPIECE METRIC</a:t>
            </a:r>
            <a:endParaRPr lang="en-US" sz="2200" dirty="0"/>
          </a:p>
        </p:txBody>
      </p:sp>
      <p:pic>
        <p:nvPicPr>
          <p:cNvPr id="5" name="Image 0" descr="/home/claude/akkum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45720"/>
            <a:ext cx="804672" cy="75652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4048" y="77724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99"/>
                </a:solidFill>
              </a:rPr>
              <a:t>Bitcoin Coverage Ratio — the public-facing anchor of the DACI framework (Q-BR™)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47472" y="1115568"/>
            <a:ext cx="8458200" cy="777240"/>
          </a:xfrm>
          <a:prstGeom prst="rect">
            <a:avLst/>
          </a:prstGeom>
          <a:solidFill>
            <a:srgbClr val="1A2F55"/>
          </a:solidFill>
          <a:ln w="19050">
            <a:solidFill>
              <a:srgbClr val="E8772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" y="117043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7722"/>
                </a:solidFill>
              </a:rPr>
              <a:t>BCR  =  (Bitcoin Reserve Value)  ÷  (Outstanding Loan Balance at Risk)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16459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AECB"/>
                </a:solidFill>
              </a:rPr>
              <a:t>Expressed as a percentage.  BCR &gt; 25% = Investment Grade Buffer.   BCR &gt; 50% = Enhanced Credit Quality.   BCR &gt; 100% = Full Coverage.</a:t>
            </a:r>
            <a:endParaRPr lang="en-US" sz="105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347472" y="1938528"/>
          <a:ext cx="53492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Shape 7"/>
          <p:cNvSpPr/>
          <p:nvPr/>
        </p:nvSpPr>
        <p:spPr>
          <a:xfrm>
            <a:off x="5897880" y="1938528"/>
            <a:ext cx="2907792" cy="2926080"/>
          </a:xfrm>
          <a:prstGeom prst="rect">
            <a:avLst/>
          </a:prstGeom>
          <a:solidFill>
            <a:srgbClr val="1A2F55"/>
          </a:solidFill>
          <a:ln w="19050">
            <a:solidFill>
              <a:srgbClr val="E8772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053328" y="202996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DACI Framework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053328" y="235915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0AECB"/>
                </a:solidFill>
              </a:rPr>
              <a:t>7 proprietary metrics powering Q-BR™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6053328" y="268833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7722"/>
                </a:solidFill>
              </a:rPr>
              <a:t>1.  BCR  (public anchor)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053328" y="30175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B"/>
                </a:solidFill>
              </a:rPr>
              <a:t>2.  Volatility Stress Buffer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053328" y="334670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B"/>
                </a:solidFill>
              </a:rPr>
              <a:t>3.  Reserve Drift Ratio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053328" y="367588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B"/>
                </a:solidFill>
              </a:rPr>
              <a:t>4.  Collateral Velocity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053328" y="400507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B"/>
                </a:solidFill>
              </a:rPr>
              <a:t>5.  Coupon Concession Score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053328" y="433425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B"/>
                </a:solidFill>
              </a:rPr>
              <a:t>6.  Lender Coverage Ratio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053328" y="46634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B"/>
                </a:solidFill>
              </a:rPr>
              <a:t>7.  Systemic Exposure Index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201168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THE BOTTOM LINE</a:t>
            </a:r>
            <a:endParaRPr lang="en-US" sz="3200" dirty="0"/>
          </a:p>
        </p:txBody>
      </p:sp>
      <p:pic>
        <p:nvPicPr>
          <p:cNvPr id="5" name="Image 0" descr="/home/claude/akkum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64592"/>
            <a:ext cx="1097280" cy="103163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4048" y="914400"/>
            <a:ext cx="7315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AECB"/>
                </a:solidFill>
              </a:rPr>
              <a:t>Q-BR™ is the only mortgage innovation that simultaneously grows GSE volume,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0AECB"/>
                </a:solidFill>
              </a:rPr>
              <a:t>reduces credit losses, improves lender MSR quality, and creates a new PMI revenue stream.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47472" y="2121408"/>
            <a:ext cx="2743200" cy="43891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7472" y="212140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GSE / FHFA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7472" y="2578608"/>
            <a:ext cx="2743200" cy="2304288"/>
          </a:xfrm>
          <a:prstGeom prst="rect">
            <a:avLst/>
          </a:prstGeom>
          <a:solidFill>
            <a:srgbClr val="FFFFFF"/>
          </a:solidFill>
          <a:ln w="19050">
            <a:solidFill>
              <a:srgbClr val="E8772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93776" y="2688336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55"/>
                </a:solidFill>
              </a:rPr>
              <a:t>Authorize a 500-loan conservatorship pilot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93776" y="3291840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</a:rPr>
              <a:t>Q3 2025 window open now — Better/Coinbase pilot creates precedent pressure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55264" y="2121408"/>
            <a:ext cx="2743200" cy="438912"/>
          </a:xfrm>
          <a:prstGeom prst="rect">
            <a:avLst/>
          </a:prstGeom>
          <a:solidFill>
            <a:srgbClr val="2A3F6F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55264" y="212140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Lenders / IMBs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255264" y="2578608"/>
            <a:ext cx="2743200" cy="2304288"/>
          </a:xfrm>
          <a:prstGeom prst="rect">
            <a:avLst/>
          </a:prstGeom>
          <a:solidFill>
            <a:srgbClr val="FFFFFF"/>
          </a:solidFill>
          <a:ln w="19050">
            <a:solidFill>
              <a:srgbClr val="2A3F6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401568" y="2688336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55"/>
                </a:solidFill>
              </a:rPr>
              <a:t>Join the Q-BR™ data room at Akkume.com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401568" y="3291840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</a:rPr>
              <a:t>Membership tier: full lender economics model, BCR dashboard, DACI framework access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163056" y="2121408"/>
            <a:ext cx="2743200" cy="438912"/>
          </a:xfrm>
          <a:prstGeom prst="rect">
            <a:avLst/>
          </a:prstGeom>
          <a:solidFill>
            <a:srgbClr val="1DB87B"/>
          </a:solidFill>
          <a:ln w="12700">
            <a:solidFill>
              <a:srgbClr val="1DB87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63056" y="212140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PMI Companies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163056" y="2578608"/>
            <a:ext cx="2743200" cy="2304288"/>
          </a:xfrm>
          <a:prstGeom prst="rect">
            <a:avLst/>
          </a:prstGeom>
          <a:solidFill>
            <a:srgbClr val="FFFFFF"/>
          </a:solidFill>
          <a:ln w="19050">
            <a:solidFill>
              <a:srgbClr val="1DB87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309360" y="2688336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55"/>
                </a:solidFill>
              </a:rPr>
              <a:t>First-mover conversation on BTC reserve wrap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309360" y="3291840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</a:rPr>
              <a:t>Enact, MGIC, Radian: be the infrastructure layer, not the displaced incumbent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F3D"/>
                </a:solidFill>
              </a:rPr>
              <a:t>akkume.com  |  Akkume™  |  DACI Framework  |  Q-BR™  — Bitcoin Reserve Layer for U.S. Mortgage Finance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1306</Words>
  <Application>Microsoft Office PowerPoint</Application>
  <PresentationFormat>On-screen Show (16:9)</PresentationFormat>
  <Paragraphs>187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Q-BR: The Financial Case for GSEs &amp; Lenders</dc:title>
  <dc:subject>PptxGenJS Presentation</dc:subject>
  <dc:creator>PptxGenJS</dc:creator>
  <cp:lastModifiedBy>Sharon Dow</cp:lastModifiedBy>
  <cp:revision>1</cp:revision>
  <dcterms:created xsi:type="dcterms:W3CDTF">2026-04-23T10:46:14Z</dcterms:created>
  <dcterms:modified xsi:type="dcterms:W3CDTF">2026-04-23T19:43:48Z</dcterms:modified>
</cp:coreProperties>
</file>